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813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6181D"/>
                </a:solidFill>
                <a:latin typeface="Arial"/>
              </a:rPr>
              <a:t>Food Detection</a:t>
            </a:r>
            <a:r>
              <a:rPr sz="4400" b="1">
                <a:solidFill>
                  <a:srgbClr val="6B7280"/>
                </a:solidFill>
                <a:latin typeface="Arial"/>
              </a:rPr>
              <a:t> &amp; </a:t>
            </a:r>
            <a:r>
              <a:rPr sz="4400" b="1">
                <a:solidFill>
                  <a:srgbClr val="16181D"/>
                </a:solidFill>
                <a:latin typeface="Arial"/>
              </a:rPr>
              <a:t>Portion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80"/>
                </a:solidFill>
                <a:latin typeface="Arial"/>
              </a:rPr>
              <a:t>Two questions from one camera frame — what food, and how much — entirely on a $30 microcontroller.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127248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5 + 3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31336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classes + portion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9393" y="3429000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216.7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9393" y="3831336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int8 model on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6" y="3429000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1.08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6" y="3831336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on-device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0899" y="3429000"/>
            <a:ext cx="260215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0.643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0899" y="3831336"/>
            <a:ext cx="2602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macro-F1, int8 test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Arial"/>
              </a:rPr>
              <a:t>Luke Valerio · Daniel Yang</a:t>
            </a:r>
            <a:r>
              <a:rPr sz="1400" b="0">
                <a:solidFill>
                  <a:srgbClr val="6B7280"/>
                </a:solidFill>
                <a:latin typeface="Arial"/>
              </a:rPr>
              <a:t>     EE 446 TinyML · Summer 2026 · University of Washington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Arduino Nano 33 BLE Sense (nRF52840) · OV7675 camera · TensorFlow Lite Micro, int8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Problem, inputs, and the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one 96×96 frame in, two predictions out — no network, no host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OV7675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176×144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RGB565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9231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149231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Crop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9231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144×144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centre square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822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49822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Downsample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822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96×96×3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2×2 box mean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0413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50413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Quantise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0413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int8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scale 1/255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1004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51004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1004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157,512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parameters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1595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51595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Two heads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1595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5 classes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 tiers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52186" y="1426464"/>
            <a:ext cx="1490863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52186" y="1627632"/>
            <a:ext cx="14908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2186" y="1929384"/>
            <a:ext cx="14908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Serial · LED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752344"/>
            <a:ext cx="3515258" cy="18932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8096" y="293522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308540"/>
            <a:ext cx="3076346" cy="111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Single plate, single food.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Head A</a:t>
            </a:r>
            <a:r>
              <a:rPr sz="1200" b="0">
                <a:solidFill>
                  <a:srgbClr val="16181D"/>
                </a:solidFill>
                <a:latin typeface="Arial"/>
              </a:rPr>
              <a:t>  5-way classification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Head B</a:t>
            </a:r>
            <a:r>
              <a:rPr sz="1200" b="0">
                <a:solidFill>
                  <a:srgbClr val="16181D"/>
                </a:solidFill>
                <a:latin typeface="Arial"/>
              </a:rPr>
              <a:t>  3-tier ordinal portion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Tiers map to mass: &lt;80 g · 80–180 g · &gt;180 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2752344"/>
            <a:ext cx="3515258" cy="20329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7674" y="293522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Sensor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7674" y="3308540"/>
            <a:ext cx="3076346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OV7675 on the Tiny ML shield.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QCIF 176×144 RGB565 at 5 fps.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Downsampled, never centre-cropped — the portion tier is measured against the plate rim, so the whole plate must stay in frame.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7796" y="2752344"/>
            <a:ext cx="3515258" cy="20329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47252" y="293522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Evaluation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7252" y="3308540"/>
            <a:ext cx="3076346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Class</a:t>
            </a:r>
            <a:r>
              <a:rPr sz="1200" b="0">
                <a:solidFill>
                  <a:srgbClr val="16181D"/>
                </a:solidFill>
                <a:latin typeface="Arial"/>
              </a:rPr>
              <a:t>  macro-F1 (primary), accuracy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Portion</a:t>
            </a:r>
            <a:r>
              <a:rPr sz="1200" b="0">
                <a:solidFill>
                  <a:srgbClr val="16181D"/>
                </a:solidFill>
                <a:latin typeface="Arial"/>
              </a:rPr>
              <a:t>  accuracy, mean ordinal error, off-by-two rate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Macro-F1 because per-class confusability, not frequency, is the failure mode.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0644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8096" y="5952744"/>
            <a:ext cx="106555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Everything runs on the device. </a:t>
            </a:r>
            <a:r>
              <a:rPr sz="1200" b="0">
                <a:solidFill>
                  <a:srgbClr val="16181D"/>
                </a:solidFill>
                <a:latin typeface="Arial"/>
              </a:rPr>
              <a:t>No companion phone, no cloud inference, no network — the board captures, preprocesses, infers and reports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Data: real photographed food, honestly labelled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FoodSeg103 (Apache-2.0) mask cutouts composited onto a measured 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26464"/>
          <a:ext cx="676655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387"/>
                <a:gridCol w="1951892"/>
                <a:gridCol w="910883"/>
                <a:gridCol w="2472396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our class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FoodSeg103 source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cutouts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caveat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broccoli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broccoli (87)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clean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rice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rice (66)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clean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potato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potato (70)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1,073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french fries excluded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chicken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chicken duck (48)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1,226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merged label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beef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steak (46)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1,049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substitution — no beef class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3814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Portion labels are constructed, not estimated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58184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Food is pasted at a sampled fraction f of plate area, so the label is exact by definition: mass ≈ f × 513 g (22 cm plate, 1.5 cm deep, 0.9 g/cm³).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Plate apparent diameter is jittered to 62–92% of frame width, so raw pixel area is an ambiguous cue and the model must measure against the rim.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26464"/>
            <a:ext cx="4007815" cy="18932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54696" y="1609344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982660"/>
            <a:ext cx="3568903" cy="111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4,996</a:t>
            </a:r>
            <a:r>
              <a:rPr sz="1200" b="0">
                <a:solidFill>
                  <a:srgbClr val="16181D"/>
                </a:solidFill>
                <a:latin typeface="Arial"/>
              </a:rPr>
              <a:t>  RGBA mask cutouts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18,000</a:t>
            </a:r>
            <a:r>
              <a:rPr sz="1200" b="0">
                <a:solidFill>
                  <a:srgbClr val="16181D"/>
                </a:solidFill>
                <a:latin typeface="Arial"/>
              </a:rPr>
              <a:t>  composited plates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Tiers balanced 5,054 / 5,051 / 4,895.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Split 15,000 train / 3,000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484308"/>
            <a:ext cx="4007815" cy="20329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54696" y="3667188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4040504"/>
            <a:ext cx="3568903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Resize to 96×96, scale to [0,1].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Augmentation: geometry + sensor degradation only.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No photometric jitter — these are real photographs that already carry real scene lighting; stacking jitter on top crushed batches to black and destroyed the colour cue.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Model: one backbone, two heads that pool differently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depthwise-separable CNN, 157,512 parameters, 13.6 M MACs per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96²×3   →  stem s2  →  48²×16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→  b1–b2    →  24²×32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→  b3–b4    →  12²×64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→  b5–b6    →   6²×128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→  1×1 widen →  6²×192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            ├── MAX pool 6×6  →  5 classes    (965 params)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81D"/>
                </a:solidFill>
                <a:latin typeface="Arial"/>
              </a:rPr>
              <a:t>                    └── AVG pool 6×6  →  3 tiers      (579 params)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3864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6 inverted-residual blocks · 3 residual adds · 155,968 parameters shared between the heads. Deployed ops: CONV_2D ×13, DEPTHWISE_CONV_2D ×6, ADD ×3, MAX_POOL_2D, AVERAGE_POOL_2D, FULLY_CONNECTED ×2, SOFTMAX ×2.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1538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Design lineage — where this sits against the YOLO 'nano' family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44568"/>
          <a:ext cx="676655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908"/>
                <a:gridCol w="998344"/>
                <a:gridCol w="1220199"/>
                <a:gridCol w="1220199"/>
                <a:gridCol w="1663908"/>
              </a:tblGrid>
              <a:tr h="292608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6B7280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6B7280"/>
                          </a:solidFill>
                          <a:latin typeface="Arial"/>
                        </a:rPr>
                        <a:t>compute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6B7280"/>
                          </a:solidFill>
                          <a:latin typeface="Arial"/>
                        </a:rPr>
                        <a:t>deployed size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6B728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YOLO Nano (2018)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4.57 B ops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~4.0 MB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Jetson-class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YOLOv8n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3.2 M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8.7 B FLOPs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~6 MB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6181D"/>
                          </a:solidFill>
                          <a:latin typeface="Arial"/>
                        </a:rPr>
                        <a:t>mobile GPU / CPU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2410C"/>
                          </a:solidFill>
                          <a:latin typeface="Arial"/>
                        </a:rPr>
                        <a:t>ours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2410C"/>
                          </a:solidFill>
                          <a:latin typeface="Arial"/>
                        </a:rPr>
                        <a:t>157.5 K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2410C"/>
                          </a:solidFill>
                          <a:latin typeface="Arial"/>
                        </a:rPr>
                        <a:t>27.2 M FLOPs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2410C"/>
                          </a:solidFill>
                          <a:latin typeface="Arial"/>
                        </a:rPr>
                        <a:t>216.7 KB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2410C"/>
                          </a:solidFill>
                          <a:latin typeface="Arial"/>
                        </a:rPr>
                        <a:t>Cortex-M4 @ 64 MHz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15584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Arial"/>
              </a:rPr>
              <a:t>Kept: </a:t>
            </a:r>
            <a:r>
              <a:rPr sz="1100" b="0">
                <a:solidFill>
                  <a:srgbClr val="6B7280"/>
                </a:solidFill>
                <a:latin typeface="Arial"/>
              </a:rPr>
              <a:t>depthwise-separable convolutions and residual blocks — the same efficiency toolkit.  </a:t>
            </a:r>
            <a:r>
              <a:rPr sz="1100" b="1">
                <a:solidFill>
                  <a:srgbClr val="6B7280"/>
                </a:solidFill>
                <a:latin typeface="Arial"/>
              </a:rPr>
              <a:t>Dropped: </a:t>
            </a:r>
            <a:r>
              <a:rPr sz="1100" b="0">
                <a:solidFill>
                  <a:srgbClr val="6B7280"/>
                </a:solidFill>
                <a:latin typeface="Arial"/>
              </a:rPr>
              <a:t>anchors, box regression, objectness, NMS and the multi-scale neck. Not for accuracy — for RAM. YOLOv8n's input tensor alone at 640² is 1.2 MB, 4.7× this chip's entire SRAM.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26464"/>
            <a:ext cx="4007815" cy="2521902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54696" y="1609344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Why the heads pool differently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1982660"/>
            <a:ext cx="3568903" cy="174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Food covers a minority of the frame.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Class head max-pools</a:t>
            </a:r>
            <a:r>
              <a:rPr sz="1200" b="0">
                <a:solidFill>
                  <a:srgbClr val="16181D"/>
                </a:solidFill>
                <a:latin typeface="Arial"/>
              </a:rPr>
              <a:t> — presence. A max survives a mostly-empty frame.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Portion head average-pools</a:t>
            </a:r>
            <a:r>
              <a:rPr sz="1200" b="0">
                <a:solidFill>
                  <a:srgbClr val="16181D"/>
                </a:solidFill>
                <a:latin typeface="Arial"/>
              </a:rPr>
              <a:t> — extent. An average measures how much.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C2410C"/>
                </a:solidFill>
                <a:latin typeface="Arial"/>
              </a:rPr>
              <a:t>One shared global-average pool stalled the classifier at ~0.34 validation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112958"/>
            <a:ext cx="4007815" cy="20329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54696" y="4295838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Export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4669154"/>
            <a:ext cx="3568903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Sized pooling, not Global* — exports better-tested TFLM kernels.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Batch-1 clone on export; a None batch emits dynamic-shape ops.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Outputs bound by width (5 / 3), never by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Approaches evaluated, and our advanced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four training configurations, all scored on the same 3,000-image real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26464"/>
          <a:ext cx="6766558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2775"/>
                <a:gridCol w="1301261"/>
                <a:gridCol w="1301261"/>
                <a:gridCol w="130126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training configuration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class acc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portion acc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synthetic corpus only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0.5074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0.5403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0.8290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real corpus, unweighted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0.5859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0.6393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0.9233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real + synthetic combined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0.5330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0.5957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0.8770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real corpus + class weights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0.6462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0.6460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0.9237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209544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Mixing corpora is worse than real alone</a:t>
            </a:r>
            <a:r>
              <a:rPr sz="1200" b="0">
                <a:solidFill>
                  <a:srgbClr val="16181D"/>
                </a:solidFill>
                <a:latin typeface="Arial"/>
              </a:rPr>
              <a:t> — replace the synthetic data, do not augment with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Class weights are required</a:t>
            </a:r>
            <a:r>
              <a:rPr sz="1200" b="0">
                <a:solidFill>
                  <a:srgbClr val="16181D"/>
                </a:solidFill>
                <a:latin typeface="Arial"/>
              </a:rPr>
              <a:t> — without them chicken collapses to F1 0.115 / recall 0.063 on a perfectly balanced corpus. That is confusability, not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26464"/>
            <a:ext cx="4007815" cy="1963102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54696" y="1609344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Advanced component 1 — multiple approaches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4696" y="1982660"/>
            <a:ext cx="3568903" cy="1187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Four corpora/weighting configurations, plus a head-pooling ablation, each trained and scored end to end on an identical test set.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The corpus choice moved macro-F1 by 0.139 — more than any architecture change we tried.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554158"/>
            <a:ext cx="4007815" cy="2190115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54696" y="3737038"/>
            <a:ext cx="3568903" cy="454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Advanced component 2 — output beyond the Serial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4337367"/>
            <a:ext cx="3568903" cy="1187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On-board RGB LED signals capture, result and camera fault without a host attached.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A live host dashboard (harness/camera_view.py) streams the frame the model actually sees, with a plate-framing guide ring and the prediction overlaid.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Baseline model performance — before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float32, 3,000-image held-out test set · no compression applied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26464"/>
          <a:ext cx="676655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722"/>
                <a:gridCol w="1276709"/>
                <a:gridCol w="1276709"/>
                <a:gridCol w="1276709"/>
                <a:gridCol w="127670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class acc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portion acc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ordinal err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0.6832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0.6850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0.9261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0.6475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0.6376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0.9253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0.6462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0.6460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0.9237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0.0763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4378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Train-to-test gap 0.037 — the model is not overfitting. The ceiling is set by the source data, not by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8386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Per-class F1, float32 test 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22192"/>
          <a:ext cx="6766560" cy="585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broccoli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beef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rice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potato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chicken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0.665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0.567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0.522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426464"/>
            <a:ext cx="4007815" cy="196310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54696" y="1609344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Portion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1982660"/>
            <a:ext cx="3568903" cy="1187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>
                <a:solidFill>
                  <a:srgbClr val="C2410C"/>
                </a:solidFill>
                <a:latin typeface="Arial"/>
              </a:rPr>
              <a:t>0.9237</a:t>
            </a:r>
            <a:r>
              <a:rPr sz="1200" b="0">
                <a:solidFill>
                  <a:srgbClr val="6B7280"/>
                </a:solidFill>
                <a:latin typeface="Arial"/>
              </a:rPr>
              <a:t>  tier accuracy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0 of 3,000</a:t>
            </a:r>
            <a:r>
              <a:rPr sz="1200" b="0">
                <a:solidFill>
                  <a:srgbClr val="16181D"/>
                </a:solidFill>
                <a:latin typeface="Arial"/>
              </a:rPr>
              <a:t> off-by-two errors — when it is wrong, it is wrong by exactly one tier.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Mean ordinal error 0.0763.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54158"/>
            <a:ext cx="4007815" cy="17535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54696" y="3737038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Where the class errors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4110354"/>
            <a:ext cx="3568903" cy="97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Rice ↔ potato is the dominant confusion: 183 rice→potato and 126 potato→rice.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Both are pale, starchy and near-textureless at 96×96. Broccoli, which is unmistakably green, reaches 0.969.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Compression: int8 post-training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2.8× smaller for 0.003 macro-F1 — the whole TinyML trade in one 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26464"/>
          <a:ext cx="1109440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5777"/>
                <a:gridCol w="1422360"/>
                <a:gridCol w="1564596"/>
                <a:gridCol w="1564596"/>
                <a:gridCol w="1422360"/>
                <a:gridCol w="1422360"/>
                <a:gridCol w="14223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portion acc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model size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tensor arena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flash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float32 (baseline)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0.6462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0.9237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621,956 B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does not fit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int8 PTQ (deployed)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0.6432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0.9187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221,888 B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113,516 B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500,648 B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1,082 ms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660904"/>
            <a:ext cx="20360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2.80×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compression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3243" y="2660904"/>
            <a:ext cx="20360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−0.0030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3243" y="3063240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macro-F1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7846" y="2660904"/>
            <a:ext cx="20360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43.3%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7846" y="3063240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of SRAM, arena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449" y="2660904"/>
            <a:ext cx="20360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50.9%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449" y="3063240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of 983 KB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7052" y="2660904"/>
            <a:ext cx="20360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2410C"/>
                </a:solidFill>
                <a:latin typeface="Arial"/>
              </a:rPr>
              <a:t>1,082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7052" y="3063240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mean of 20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12464"/>
            <a:ext cx="5410047" cy="17535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389534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Quantization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268660"/>
            <a:ext cx="4971135" cy="97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Full-integer post-training quantization; int8 weights and activations, int8 input and output.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Representative dataset: 300 training images with augmentation ON — the quantiser should see the degraded activations the device will actually produce.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712464"/>
            <a:ext cx="5410047" cy="21726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52463" y="389534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Measured RAM budget, on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4268660"/>
            <a:ext cx="4971135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Fixed overhead (mbed OS + TFLM + Serial)  51,792 B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RGB565 QCIF frame buffer  50,688 B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Tensor arena in use  113,516 B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Total static RAM  222,688 B of 262,144 B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Largest free block still allocatable  54,284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On-device evaluation — live camera, labelled captures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real plates photographed by the OV7675 · sample counts stated explicitly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26464"/>
          <a:ext cx="6766558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4380"/>
                <a:gridCol w="1915064"/>
                <a:gridCol w="1021367"/>
                <a:gridCol w="1532051"/>
                <a:gridCol w="893696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# on-device samples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6B7280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4864" marR="54864" marT="0" marB="0" anchor="ctr">
                    <a:solidFill>
                      <a:srgbClr val="F6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beef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0.739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0.850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chicken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0.300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0.387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broccoli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0.789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0.833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rice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0.923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0.600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potato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6181D"/>
                          </a:solidFill>
                          <a:latin typeface="Arial"/>
                        </a:rPr>
                        <a:t>food not available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2410C"/>
                          </a:solidFill>
                          <a:latin typeface="Arial"/>
                        </a:rPr>
                        <a:t>0.668</a:t>
                      </a:r>
                    </a:p>
                  </a:txBody>
                  <a:tcPr marL="54864" marR="54864" marT="0" marB="0" anchor="ctr">
                    <a:solidFill>
                      <a:srgbClr val="FD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58184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75 labelled captures with harness/live_capture.py. Macro-F1 is over the four classes with on-device support; potato was not available and is reported as an explicit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52544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Our chicken and beef are raw; the training food is cooked. We predicted the effect before capturing, and it cut both ways.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Pale raw chicken collides with rice</a:t>
            </a:r>
            <a:r>
              <a:rPr sz="1200" b="0">
                <a:solidFill>
                  <a:srgbClr val="16181D"/>
                </a:solidFill>
                <a:latin typeface="Arial"/>
              </a:rPr>
              <a:t> — 11 of 20 chicken captures called rice, 3 potato.  </a:t>
            </a:r>
            <a:r>
              <a:rPr sz="1200" b="1">
                <a:solidFill>
                  <a:srgbClr val="16181D"/>
                </a:solidFill>
                <a:latin typeface="Arial"/>
              </a:rPr>
              <a:t>Raw beef goes the other way</a:t>
            </a:r>
            <a:r>
              <a:rPr sz="1200" b="0">
                <a:solidFill>
                  <a:srgbClr val="16181D"/>
                </a:solidFill>
                <a:latin typeface="Arial"/>
              </a:rPr>
              <a:t> — the measured failure was that the camera renders cooked beef neutral grey (R−B +1.4 against +39.8 in training). Raw beef is strongly red, and recall went from 0/5 to 17/23 at precision 1.000.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26464"/>
            <a:ext cx="4007815" cy="18932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54696" y="1609344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Capture-to-result latency,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982660"/>
            <a:ext cx="3568903" cy="111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Capture (bit-banged readFrame)  331–583 ms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Preprocess (crop, downsample, quantise)  ~68 ms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Inference  1,082 ms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Total  1,482–1,733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484308"/>
            <a:ext cx="4007815" cy="2172652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54696" y="3667188"/>
            <a:ext cx="3568903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Portion head on device — a degenerate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4040504"/>
            <a:ext cx="3568903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The head emitted 'large' on all 75 captures</a:t>
            </a:r>
            <a:r>
              <a:rPr sz="1200" b="0">
                <a:solidFill>
                  <a:srgbClr val="16181D"/>
                </a:solidFill>
                <a:latin typeface="Arial"/>
              </a:rPr>
              <a:t>, every one at exactly 0.9961 = 255/256, the int8 softmax ceiling. It never once produced 'small' or 'medium'.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C2410C"/>
                </a:solidFill>
                <a:latin typeface="Arial"/>
              </a:rPr>
              <a:t>Apparent accuracy 0.478 (33/69 labelled) is the base rate alone — 33 of the plates happened to be large. Recall 1.000 on large, 0.000 on small and medium.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894704"/>
            <a:ext cx="4007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Arial"/>
              </a:rPr>
              <a:t>Class head verified against the host: </a:t>
            </a:r>
            <a:r>
              <a:rPr sz="1200" b="0">
                <a:solidFill>
                  <a:srgbClr val="6B7280"/>
                </a:solidFill>
                <a:latin typeface="Arial"/>
              </a:rPr>
              <a:t>img_sum = input_sum = 449,425 · match = 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what moved the numbers, and what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26464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60934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Data beat architecture, decisively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2660"/>
            <a:ext cx="3076346" cy="12817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Switching from synthetic textures to real FoodSeg103 cutouts, plus class weighting, moved macro-F1 from 0.5074 to 0.6462.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C2410C"/>
                </a:solidFill>
                <a:latin typeface="Arial"/>
              </a:rPr>
              <a:t>+0.139 from data alone</a:t>
            </a:r>
            <a:r>
              <a:rPr sz="1200" b="0">
                <a:solidFill>
                  <a:srgbClr val="16181D"/>
                </a:solidFill>
                <a:latin typeface="Arial"/>
              </a:rPr>
              <a:t>, at identical model size, arena and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426464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7674" y="160934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int8 was nearly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7674" y="1982660"/>
            <a:ext cx="3076346" cy="12817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2.80× smaller for 0.0030 macro-F1 and 0.005 portion accuracy.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The portion head lost nothing structurally: still zero off-by-two errors in 3,000 test images after quantization.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426464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47252" y="1609344"/>
            <a:ext cx="3076346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The bottleneck is not the kernels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7252" y="1982660"/>
            <a:ext cx="3076346" cy="12817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CMSIS-NN is already active — 26 int8 symbols, 251 DSP SIMD instructions — and measured no speedup at all (1,092 ms vs 1,076 ms reference).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1,082 ms remains unexplained.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410047" cy="1753552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384962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Challenge — the device disagreed with the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222940"/>
            <a:ext cx="4971135" cy="97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A byte-identical input produced a different class on device. Three hypotheses were wrong before an on-device checksum isolated it: Invoke() aliases and destroys its own input tensor.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Fix: refill the input before every Invoke().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666744"/>
            <a:ext cx="5410047" cy="1753552"/>
          </a:xfrm>
          <a:prstGeom prst="roundRect">
            <a:avLst>
              <a:gd name="adj" fmla="val 4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52463" y="384962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Challenge — the portion head pins at 'large' on camera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3" y="4222940"/>
            <a:ext cx="4971135" cy="97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6181D"/>
                </a:solidFill>
                <a:latin typeface="Arial"/>
              </a:rPr>
              <a:t>Diagnosed on the host, not guessed. Ruled out: white balance, contrast, and mean/std matching all leave it pinned.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A scale sweep shows the head is correct from 0.45× to 1.35× plate zoom, and only fails once the rim leaves the 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0233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181D"/>
                </a:solidFill>
                <a:latin typeface="Arial"/>
              </a:rPr>
              <a:t>Limitations and what we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the honest boundary of what these numbers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26464"/>
            <a:ext cx="5410047" cy="245205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60934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Immovable without new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2660"/>
            <a:ext cx="4971135" cy="167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FoodSeg103 has no beef and no pure chicken.</a:t>
            </a:r>
            <a:r>
              <a:rPr sz="1200" b="0">
                <a:solidFill>
                  <a:srgbClr val="16181D"/>
                </a:solidFill>
                <a:latin typeface="Arial"/>
              </a:rPr>
              <a:t> Our beef is steak; our chicken is a merged 'chicken duck' label. This caps chicken near F1 0.51 — training cannot fix it.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Rice and potato are not separable at 96×96.</a:t>
            </a:r>
            <a:r>
              <a:rPr sz="1200" b="0">
                <a:solidFill>
                  <a:srgbClr val="16181D"/>
                </a:solidFill>
                <a:latin typeface="Arial"/>
              </a:rPr>
              <a:t> Grain structure sits at the resolution limit, and higher resolution breaks the RAM budget.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The food is real but the plate is drawn.</a:t>
            </a:r>
            <a:r>
              <a:rPr sz="1200" b="0">
                <a:solidFill>
                  <a:srgbClr val="16181D"/>
                </a:solidFill>
                <a:latin typeface="Arial"/>
              </a:rPr>
              <a:t> Real shadows, specular highlights and depth are absent from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26464"/>
            <a:ext cx="5410047" cy="2661602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52463" y="1609344"/>
            <a:ext cx="4971135" cy="227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81D"/>
                </a:solidFill>
                <a:latin typeface="Arial"/>
              </a:rPr>
              <a:t>Open and unverified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2463" y="1982660"/>
            <a:ext cx="4971135" cy="1885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Portion tiers are modelled, not weighed.</a:t>
            </a:r>
            <a:r>
              <a:rPr sz="1200" b="0">
                <a:solidFill>
                  <a:srgbClr val="16181D"/>
                </a:solidFill>
                <a:latin typeface="Arial"/>
              </a:rPr>
              <a:t> 0.9187 is scored against our own definition of a tier; real gram accuracy is unmeasured.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The portion head is degenerate on real camera input.</a:t>
            </a:r>
            <a:r>
              <a:rPr sz="1200" b="0">
                <a:solidFill>
                  <a:srgbClr val="16181D"/>
                </a:solidFill>
                <a:latin typeface="Arial"/>
              </a:rPr>
              <a:t> It emitted 'large' on all 75 captures and never produced another tier. Host diagnosis rules out white balance, contrast and mean/std matching; a scale sweep shows the head is correct from 0.45× to 1.35× plate zoom. Unresolved.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Single-label only.</a:t>
            </a:r>
            <a:r>
              <a:rPr sz="1200" b="0">
                <a:solidFill>
                  <a:srgbClr val="16181D"/>
                </a:solidFill>
                <a:latin typeface="Arial"/>
              </a:rPr>
              <a:t> The class head ends in softmax, so it reports one food per 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70946"/>
            <a:ext cx="11094415" cy="10515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4417250"/>
            <a:ext cx="1065550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181D"/>
                </a:solidFill>
                <a:latin typeface="Arial"/>
              </a:rPr>
              <a:t>Next: </a:t>
            </a:r>
            <a:r>
              <a:rPr sz="1200" b="0">
                <a:solidFill>
                  <a:srgbClr val="16181D"/>
                </a:solidFill>
                <a:latin typeface="Arial"/>
              </a:rPr>
              <a:t>multi-label is feasible on this hardware at essentially zero memory cost — 5 independent sigmoids plus a 5×3 per-class tier head takes the output tensor from 8 to 20 values and leaves the arena unchanged. The class head already max-pools, the correct operator for presence detection, so only the activation, loss and data generator change. Beyond that: ~150 weighed captures at a fixed camera height would close the plate-realism and gram-accuracy gaps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Luke Valerio · Daniel Yang     |     EE 446 TinyML,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